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8288000" cy="10287000"/>
  <p:notesSz cx="6858000" cy="9144000"/>
  <p:embeddedFontLst>
    <p:embeddedFont>
      <p:font typeface="Open Sans 1" panose="020B0604020202020204" charset="0"/>
      <p:regular r:id="rId15"/>
    </p:embeddedFont>
    <p:embeddedFont>
      <p:font typeface="Open Sans 1 Bold" panose="020B0604020202020204" charset="0"/>
      <p:regular r:id="rId16"/>
    </p:embeddedFont>
    <p:embeddedFont>
      <p:font typeface="Open Sans 1 Medium" panose="020B0604020202020204" charset="0"/>
      <p:regular r:id="rId17"/>
    </p:embeddedFont>
    <p:embeddedFont>
      <p:font typeface="Open Sans 1 Ultra-Bold" panose="020B0604020202020204" charset="0"/>
      <p:regular r:id="rId18"/>
    </p:embeddedFont>
    <p:embeddedFont>
      <p:font typeface="Open Sans 2" panose="020B0604020202020204" charset="0"/>
      <p:regular r:id="rId19"/>
    </p:embeddedFont>
    <p:embeddedFont>
      <p:font typeface="Open Sans 2 Bold" panose="020B0604020202020204" charset="0"/>
      <p:regular r:id="rId20"/>
    </p:embeddedFont>
    <p:embeddedFont>
      <p:font typeface="TT Chocolate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36AA7F-C870-6A5B-FEB7-10BC73C0904B}" v="30" dt="2025-12-02T23:21:03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2838532/" TargetMode="External"/><Relationship Id="rId2" Type="http://schemas.openxmlformats.org/officeDocument/2006/relationships/hyperlink" Target="https://www.minsal.cl/ens-2016-2017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1161/CIRCULATIONAHA.111.08721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orldobesity.org" TargetMode="External"/><Relationship Id="rId3" Type="http://schemas.openxmlformats.org/officeDocument/2006/relationships/hyperlink" Target="https://www.google.com/search?q=https://doi.org/10.1152/ajpendo.00559.2009" TargetMode="External"/><Relationship Id="rId7" Type="http://schemas.openxmlformats.org/officeDocument/2006/relationships/hyperlink" Target="https://www.minsal.cl/ens-2016-2017/" TargetMode="External"/><Relationship Id="rId2" Type="http://schemas.openxmlformats.org/officeDocument/2006/relationships/hyperlink" Target="https://platform.fatsecre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bm.com/es-es/think/topics/data-integrity" TargetMode="External"/><Relationship Id="rId5" Type="http://schemas.openxmlformats.org/officeDocument/2006/relationships/hyperlink" Target="https://doi.org/10.1161/CIRCULATIONAHA.111.087213" TargetMode="Externa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93960" y="7073953"/>
            <a:ext cx="6483182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7757409">
            <a:off x="12007383" y="-4543149"/>
            <a:ext cx="9928415" cy="8087145"/>
          </a:xfrm>
          <a:custGeom>
            <a:avLst/>
            <a:gdLst/>
            <a:ahLst/>
            <a:cxnLst/>
            <a:rect l="l" t="t" r="r" b="b"/>
            <a:pathLst>
              <a:path w="9928415" h="8087145">
                <a:moveTo>
                  <a:pt x="0" y="0"/>
                </a:moveTo>
                <a:lnTo>
                  <a:pt x="9928415" y="0"/>
                </a:lnTo>
                <a:lnTo>
                  <a:pt x="9928415" y="8087145"/>
                </a:lnTo>
                <a:lnTo>
                  <a:pt x="0" y="8087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428339" y="921542"/>
            <a:ext cx="1918052" cy="191805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04857" y="607583"/>
            <a:ext cx="700314" cy="70031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82457" y="7368910"/>
            <a:ext cx="8083425" cy="2712294"/>
            <a:chOff x="0" y="0"/>
            <a:chExt cx="3588394" cy="12040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88394" cy="1204042"/>
            </a:xfrm>
            <a:custGeom>
              <a:avLst/>
              <a:gdLst/>
              <a:ahLst/>
              <a:cxnLst/>
              <a:rect l="l" t="t" r="r" b="b"/>
              <a:pathLst>
                <a:path w="3588394" h="1204042">
                  <a:moveTo>
                    <a:pt x="0" y="0"/>
                  </a:moveTo>
                  <a:lnTo>
                    <a:pt x="3588394" y="0"/>
                  </a:lnTo>
                  <a:lnTo>
                    <a:pt x="3588394" y="1204042"/>
                  </a:lnTo>
                  <a:lnTo>
                    <a:pt x="0" y="1204042"/>
                  </a:ln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588394" cy="1251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93929" y="1187350"/>
            <a:ext cx="506045" cy="206098"/>
          </a:xfrm>
          <a:custGeom>
            <a:avLst/>
            <a:gdLst/>
            <a:ahLst/>
            <a:cxnLst/>
            <a:rect l="l" t="t" r="r" b="b"/>
            <a:pathLst>
              <a:path w="506045" h="206098">
                <a:moveTo>
                  <a:pt x="0" y="0"/>
                </a:moveTo>
                <a:lnTo>
                  <a:pt x="506045" y="0"/>
                </a:lnTo>
                <a:lnTo>
                  <a:pt x="506045" y="206098"/>
                </a:lnTo>
                <a:lnTo>
                  <a:pt x="0" y="2060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14574" y="3601830"/>
            <a:ext cx="14160264" cy="133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4"/>
              </a:lnSpc>
            </a:pPr>
            <a:r>
              <a:rPr lang="en-US" sz="10233" b="1" spc="2711">
                <a:solidFill>
                  <a:srgbClr val="FFFFFF"/>
                </a:solidFill>
                <a:latin typeface="Open Sans 1 Medium"/>
                <a:ea typeface="Open Sans 1 Medium"/>
                <a:cs typeface="Open Sans 1 Medium"/>
                <a:sym typeface="Open Sans 1 Medium"/>
              </a:rPr>
              <a:t>      KALORI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4574" y="5191125"/>
            <a:ext cx="15936584" cy="445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800" b="1" spc="745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DESCUBRE CÓMO TUS DECISIONES CALÓRICAS ACTUALES PUEDEN IMPACTAR TU BIENESTAR FUTURO.​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014308" y="7546140"/>
            <a:ext cx="6860530" cy="257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7"/>
              </a:lnSpc>
            </a:pPr>
            <a:r>
              <a:rPr lang="en-US" sz="1900" b="1" spc="264" dirty="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Tema Investigación: Creación de software en formato de aplicación utilizando programación orientada a objetos, APIs y bases de datos.​</a:t>
            </a:r>
          </a:p>
          <a:p>
            <a:pPr algn="ctr">
              <a:lnSpc>
                <a:spcPts val="1837"/>
              </a:lnSpc>
            </a:pPr>
            <a:r>
              <a:rPr lang="en-US" sz="1900" b="1" spc="264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Integrates: Sebastián Neira, Alan Durán, </a:t>
            </a:r>
            <a:r>
              <a:rPr lang="en-US" sz="1900" b="1" spc="264" dirty="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Cristian </a:t>
            </a:r>
            <a:r>
              <a:rPr lang="en-US" sz="1900" b="1" spc="264" err="1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Millaqueo</a:t>
            </a:r>
            <a:r>
              <a:rPr lang="en-US" sz="1900" b="1" spc="264" dirty="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​</a:t>
            </a:r>
            <a:endParaRPr lang="en-US" sz="1900" b="1" spc="264" dirty="0">
              <a:solidFill>
                <a:srgbClr val="FFFFFF"/>
              </a:solidFill>
              <a:latin typeface="Open Sans 1 Ultra-Bold"/>
              <a:ea typeface="Open Sans 1 Ultra-Bold"/>
              <a:cs typeface="Open Sans 1 Ultra-Bold"/>
            </a:endParaRPr>
          </a:p>
          <a:p>
            <a:pPr algn="ctr">
              <a:lnSpc>
                <a:spcPts val="1837"/>
              </a:lnSpc>
            </a:pPr>
            <a:r>
              <a:rPr lang="en-US" sz="1900" b="1" spc="264" dirty="0" err="1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Profesora</a:t>
            </a:r>
            <a:r>
              <a:rPr lang="en-US" sz="1900" b="1" spc="264" dirty="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: Javiera Karina Vergara Cabrera​</a:t>
            </a:r>
            <a:endParaRPr lang="en-US" sz="1900" b="1" spc="264" dirty="0">
              <a:solidFill>
                <a:srgbClr val="FFFFFF"/>
              </a:solidFill>
              <a:latin typeface="Open Sans 1 Ultra-Bold"/>
              <a:ea typeface="Open Sans 1 Ultra-Bold"/>
              <a:cs typeface="Open Sans 1 Ultra-Bold"/>
            </a:endParaRPr>
          </a:p>
          <a:p>
            <a:pPr algn="ctr">
              <a:lnSpc>
                <a:spcPts val="1837"/>
              </a:lnSpc>
            </a:pPr>
            <a:r>
              <a:rPr lang="en-US" sz="1900" b="1" spc="264" dirty="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Asignatura: </a:t>
            </a:r>
            <a:r>
              <a:rPr lang="en-US" sz="1900" b="1" spc="264" err="1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Funciones</a:t>
            </a:r>
            <a:r>
              <a:rPr lang="en-US" sz="1900" b="1" spc="264" dirty="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 y Matrices​</a:t>
            </a:r>
            <a:endParaRPr lang="en-US" sz="1900" b="1" spc="264" dirty="0">
              <a:solidFill>
                <a:srgbClr val="FFFFFF"/>
              </a:solidFill>
              <a:latin typeface="Open Sans 1 Ultra-Bold"/>
              <a:ea typeface="Open Sans 1 Ultra-Bold"/>
              <a:cs typeface="Open Sans 1 Ultra-Bold"/>
            </a:endParaRPr>
          </a:p>
          <a:p>
            <a:pPr algn="ctr">
              <a:lnSpc>
                <a:spcPts val="1837"/>
              </a:lnSpc>
            </a:pPr>
            <a:r>
              <a:rPr lang="en-US" sz="1900" b="1" spc="264" dirty="0" err="1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Sección</a:t>
            </a:r>
            <a:r>
              <a:rPr lang="en-US" sz="1900" b="1" spc="264" dirty="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: MTFM01-B50C2​</a:t>
            </a:r>
            <a:endParaRPr lang="en-US" sz="1900" b="1" spc="264" dirty="0">
              <a:solidFill>
                <a:srgbClr val="FFFFFF"/>
              </a:solidFill>
              <a:latin typeface="Open Sans 1 Ultra-Bold"/>
              <a:ea typeface="Open Sans 1 Ultra-Bold"/>
              <a:cs typeface="Open Sans 1 Ultra-Bold"/>
            </a:endParaRPr>
          </a:p>
          <a:p>
            <a:pPr algn="ctr">
              <a:lnSpc>
                <a:spcPts val="1837"/>
              </a:lnSpc>
            </a:pPr>
            <a:r>
              <a:rPr lang="en-US" sz="1900" b="1" spc="264" dirty="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Carrera: </a:t>
            </a:r>
            <a:r>
              <a:rPr lang="en-US" sz="1900" b="1" spc="264" dirty="0" err="1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Analista</a:t>
            </a:r>
            <a:r>
              <a:rPr lang="en-US" sz="1900" b="1" spc="264" dirty="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 </a:t>
            </a:r>
            <a:r>
              <a:rPr lang="en-US" sz="1900" b="1" spc="264" dirty="0" err="1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Programador</a:t>
            </a:r>
            <a:endParaRPr lang="en-US" sz="1900" b="1" spc="264" dirty="0" err="1">
              <a:solidFill>
                <a:srgbClr val="FFFFFF"/>
              </a:solidFill>
              <a:latin typeface="Open Sans 1 Ultra-Bold"/>
              <a:ea typeface="Open Sans 1 Ultra-Bold"/>
              <a:cs typeface="Open Sans 1 Ultra-Bold"/>
            </a:endParaRPr>
          </a:p>
          <a:p>
            <a:pPr algn="ctr">
              <a:lnSpc>
                <a:spcPts val="1837"/>
              </a:lnSpc>
            </a:pPr>
            <a:endParaRPr lang="en-US" sz="1913" b="1" spc="264">
              <a:solidFill>
                <a:srgbClr val="FFFFFF"/>
              </a:solidFill>
              <a:latin typeface="Open Sans 1 Ultra-Bold"/>
              <a:ea typeface="Open Sans 1 Ultra-Bold"/>
              <a:cs typeface="Open Sans 1 Ultra-Bold"/>
              <a:sym typeface="Open Sans 1 Ultra-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963491">
            <a:off x="12939510" y="-5089296"/>
            <a:ext cx="9213358" cy="7504698"/>
          </a:xfrm>
          <a:custGeom>
            <a:avLst/>
            <a:gdLst/>
            <a:ahLst/>
            <a:cxnLst/>
            <a:rect l="l" t="t" r="r" b="b"/>
            <a:pathLst>
              <a:path w="9213358" h="7504698">
                <a:moveTo>
                  <a:pt x="0" y="0"/>
                </a:moveTo>
                <a:lnTo>
                  <a:pt x="9213358" y="0"/>
                </a:lnTo>
                <a:lnTo>
                  <a:pt x="9213358" y="7504698"/>
                </a:lnTo>
                <a:lnTo>
                  <a:pt x="0" y="7504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745943">
            <a:off x="-2987443" y="7016159"/>
            <a:ext cx="9213358" cy="7504698"/>
          </a:xfrm>
          <a:custGeom>
            <a:avLst/>
            <a:gdLst/>
            <a:ahLst/>
            <a:cxnLst/>
            <a:rect l="l" t="t" r="r" b="b"/>
            <a:pathLst>
              <a:path w="9213358" h="7504698">
                <a:moveTo>
                  <a:pt x="0" y="0"/>
                </a:moveTo>
                <a:lnTo>
                  <a:pt x="9213358" y="0"/>
                </a:lnTo>
                <a:lnTo>
                  <a:pt x="9213358" y="7504698"/>
                </a:lnTo>
                <a:lnTo>
                  <a:pt x="0" y="7504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49870" y="3851063"/>
            <a:ext cx="131661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b="1" spc="139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8179" y="3857537"/>
            <a:ext cx="133386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b="1" spc="334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97448" y="3913746"/>
            <a:ext cx="133386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b="1" spc="334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77070" y="4181735"/>
            <a:ext cx="4176457" cy="226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22A3D"/>
                </a:solidFill>
                <a:latin typeface="Open Sans 2"/>
                <a:ea typeface="Open Sans 2"/>
                <a:cs typeface="Open Sans 2"/>
                <a:sym typeface="Open Sans 2"/>
              </a:rPr>
              <a:t>Contexto: Según el "World Obesity Atlas 2025", las proyecciones para Chile son alarmantes: se estima que para fines de 2025 el 83% de los adultos tendrá un IMC alto y el 42% vivirá con obesidad.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49867" y="4177621"/>
            <a:ext cx="4176457" cy="226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22A3D"/>
                </a:solidFill>
                <a:latin typeface="Open Sans 2"/>
                <a:ea typeface="Open Sans 2"/>
                <a:cs typeface="Open Sans 2"/>
                <a:sym typeface="Open Sans 2"/>
              </a:rPr>
              <a:t>Problematicá: La obesidad es un factor de riesgo crítico para enfermedades crónicas. El problema principal identificado es la falta de visualización del impacto acumulativo de las calorías diarias.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61677" y="4182633"/>
            <a:ext cx="4176457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22A3D"/>
                </a:solidFill>
                <a:latin typeface="Open Sans 2"/>
                <a:ea typeface="Open Sans 2"/>
                <a:cs typeface="Open Sans 2"/>
                <a:sym typeface="Open Sans 2"/>
              </a:rPr>
              <a:t>Solución Preliminar: Una aplicación móvil predictiva que permita estimar visualmente la proyección de peso corporal a largo plazo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8276" y="1596303"/>
            <a:ext cx="14111447" cy="30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2400" b="1" spc="993">
                <a:solidFill>
                  <a:srgbClr val="B48C5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DESCRIPCIÓN DEL CONTEXTO Y PROBLEMÁTICA​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5715228" y="1298787"/>
            <a:ext cx="1830961" cy="183096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014915" y="756491"/>
            <a:ext cx="700314" cy="70031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7794460">
            <a:off x="447095" y="6758846"/>
            <a:ext cx="1830961" cy="183096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7794460">
            <a:off x="2030317" y="8721370"/>
            <a:ext cx="700314" cy="70031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458957" y="2840337"/>
            <a:ext cx="5685043" cy="0"/>
          </a:xfrm>
          <a:prstGeom prst="line">
            <a:avLst/>
          </a:prstGeom>
          <a:ln w="323850" cap="rnd">
            <a:solidFill>
              <a:srgbClr val="283D60"/>
            </a:solidFill>
            <a:prstDash val="sysDot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8803" y="391225"/>
            <a:ext cx="9583519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spc="772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DESCRIPCIÓN DEL PROYECTO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8803" y="2178756"/>
            <a:ext cx="7066386" cy="297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83"/>
              </a:lnSpc>
              <a:spcBef>
                <a:spcPct val="0"/>
              </a:spcBef>
            </a:pPr>
            <a:r>
              <a:rPr lang="en-US" sz="2416" b="1" spc="53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Objetivo General: Evaluar la viabilidad técnica de una aplicación móvil predictiva que permita estimar visualmente la proyección de peso corporal a largo plazo, con el fin de fomentar la conciencia sobre el impacto acumulativo del consumo calórico en la población adulta chilena.</a:t>
            </a:r>
          </a:p>
        </p:txBody>
      </p:sp>
      <p:sp>
        <p:nvSpPr>
          <p:cNvPr id="4" name="Freeform 4"/>
          <p:cNvSpPr/>
          <p:nvPr/>
        </p:nvSpPr>
        <p:spPr>
          <a:xfrm rot="7724685">
            <a:off x="11617639" y="6056519"/>
            <a:ext cx="10135766" cy="8256042"/>
          </a:xfrm>
          <a:custGeom>
            <a:avLst/>
            <a:gdLst/>
            <a:ahLst/>
            <a:cxnLst/>
            <a:rect l="l" t="t" r="r" b="b"/>
            <a:pathLst>
              <a:path w="10135766" h="8256042">
                <a:moveTo>
                  <a:pt x="0" y="0"/>
                </a:moveTo>
                <a:lnTo>
                  <a:pt x="10135766" y="0"/>
                </a:lnTo>
                <a:lnTo>
                  <a:pt x="10135766" y="8256042"/>
                </a:lnTo>
                <a:lnTo>
                  <a:pt x="0" y="8256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732322" y="1513116"/>
            <a:ext cx="5953200" cy="7310859"/>
            <a:chOff x="0" y="0"/>
            <a:chExt cx="922307" cy="11326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2306" cy="1132643"/>
            </a:xfrm>
            <a:custGeom>
              <a:avLst/>
              <a:gdLst/>
              <a:ahLst/>
              <a:cxnLst/>
              <a:rect l="l" t="t" r="r" b="b"/>
              <a:pathLst>
                <a:path w="922306" h="1132643">
                  <a:moveTo>
                    <a:pt x="0" y="0"/>
                  </a:moveTo>
                  <a:lnTo>
                    <a:pt x="922306" y="0"/>
                  </a:lnTo>
                  <a:lnTo>
                    <a:pt x="922306" y="1132643"/>
                  </a:lnTo>
                  <a:lnTo>
                    <a:pt x="0" y="1132643"/>
                  </a:lnTo>
                  <a:close/>
                </a:path>
              </a:pathLst>
            </a:custGeom>
            <a:blipFill>
              <a:blip r:embed="rId3"/>
              <a:stretch>
                <a:fillRect l="-42161" r="-42161"/>
              </a:stretch>
            </a:blipFill>
            <a:ln w="133350" cap="sq">
              <a:solidFill>
                <a:srgbClr val="B48C5D"/>
              </a:solidFill>
              <a:prstDash val="solid"/>
              <a:miter/>
            </a:ln>
          </p:spPr>
        </p:sp>
      </p:grpSp>
      <p:sp>
        <p:nvSpPr>
          <p:cNvPr id="7" name="AutoShape 7"/>
          <p:cNvSpPr/>
          <p:nvPr/>
        </p:nvSpPr>
        <p:spPr>
          <a:xfrm>
            <a:off x="13190662" y="1028700"/>
            <a:ext cx="6483182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148803" y="5528195"/>
            <a:ext cx="7066386" cy="382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 spc="37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Preguntas de Investigación:</a:t>
            </a:r>
          </a:p>
          <a:p>
            <a:pPr marL="367031" lvl="1" indent="-183515" algn="l">
              <a:lnSpc>
                <a:spcPts val="2380"/>
              </a:lnSpc>
              <a:buAutoNum type="arabicPeriod"/>
            </a:pPr>
            <a:r>
              <a:rPr lang="en-US" sz="1700" b="1" spc="37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¿Existe alguna aplicación que ya haga esto?</a:t>
            </a:r>
          </a:p>
          <a:p>
            <a:pPr marL="367031" lvl="1" indent="-183515" algn="l">
              <a:lnSpc>
                <a:spcPts val="2380"/>
              </a:lnSpc>
              <a:buAutoNum type="arabicPeriod"/>
            </a:pPr>
            <a:r>
              <a:rPr lang="en-US" sz="1700" b="1" spc="37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¿Existen APIs que contengan el contenido calórico de los alimentos?</a:t>
            </a:r>
          </a:p>
          <a:p>
            <a:pPr marL="367031" lvl="1" indent="-183515" algn="l">
              <a:lnSpc>
                <a:spcPts val="2380"/>
              </a:lnSpc>
              <a:buAutoNum type="arabicPeriod"/>
            </a:pPr>
            <a:r>
              <a:rPr lang="en-US" sz="1700" b="1" spc="37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¿Cómo se puede calcular el aumento de peso solo por medio de las calorías?</a:t>
            </a:r>
          </a:p>
          <a:p>
            <a:pPr marL="367031" lvl="1" indent="-183515" algn="l">
              <a:lnSpc>
                <a:spcPts val="2380"/>
              </a:lnSpc>
              <a:buAutoNum type="arabicPeriod"/>
            </a:pPr>
            <a:r>
              <a:rPr lang="en-US" sz="1700" b="1" spc="37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¿Cuál ajuste será el mejor para obtener las estimaciones?</a:t>
            </a:r>
          </a:p>
          <a:p>
            <a:pPr marL="367031" lvl="1" indent="-183515" algn="l">
              <a:lnSpc>
                <a:spcPts val="2380"/>
              </a:lnSpc>
              <a:buAutoNum type="arabicPeriod"/>
            </a:pPr>
            <a:r>
              <a:rPr lang="en-US" sz="1700" b="1" spc="37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¿Cómo se calcula el Gasto Energético Basal?</a:t>
            </a:r>
          </a:p>
          <a:p>
            <a:pPr marL="367031" lvl="1" indent="-183515" algn="l">
              <a:lnSpc>
                <a:spcPts val="2380"/>
              </a:lnSpc>
              <a:buAutoNum type="arabicPeriod"/>
            </a:pPr>
            <a:r>
              <a:rPr lang="en-US" sz="1700" b="1" spc="37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¿Cómo se encuentra la situación actual de obesidad en Chile?</a:t>
            </a:r>
          </a:p>
          <a:p>
            <a:pPr marL="367031" lvl="1" indent="-183515" algn="l">
              <a:lnSpc>
                <a:spcPts val="2380"/>
              </a:lnSpc>
              <a:buAutoNum type="arabicPeriod"/>
            </a:pPr>
            <a:r>
              <a:rPr lang="en-US" sz="1700" b="1" spc="37">
                <a:solidFill>
                  <a:srgbClr val="022A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¿Qué estructura de base de datos permite almacenar eficientemente la información?.</a:t>
            </a:r>
          </a:p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endParaRPr lang="en-US" sz="1700" b="1" spc="37">
              <a:solidFill>
                <a:srgbClr val="022A3D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190662" y="1028700"/>
            <a:ext cx="6483182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-1447320" y="9096375"/>
            <a:ext cx="6483182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2366124" y="1554822"/>
            <a:ext cx="12862516" cy="7015430"/>
          </a:xfrm>
          <a:custGeom>
            <a:avLst/>
            <a:gdLst/>
            <a:ahLst/>
            <a:cxnLst/>
            <a:rect l="l" t="t" r="r" b="b"/>
            <a:pathLst>
              <a:path w="12862516" h="7015430">
                <a:moveTo>
                  <a:pt x="0" y="0"/>
                </a:moveTo>
                <a:lnTo>
                  <a:pt x="12862516" y="0"/>
                </a:lnTo>
                <a:lnTo>
                  <a:pt x="12862516" y="7015431"/>
                </a:lnTo>
                <a:lnTo>
                  <a:pt x="0" y="7015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367439" y="422772"/>
            <a:ext cx="14699459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3199" b="1" spc="84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METODOLOGÍA DE TRABAJO COLABORATIVO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53707" y="2803176"/>
            <a:ext cx="2498868" cy="2498868"/>
            <a:chOff x="0" y="0"/>
            <a:chExt cx="3331824" cy="3331824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399261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399261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B48C5D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408917" y="466286"/>
              <a:ext cx="2505689" cy="2505689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235425" y="2803176"/>
            <a:ext cx="2498868" cy="2498868"/>
            <a:chOff x="0" y="0"/>
            <a:chExt cx="3331824" cy="3331824"/>
          </a:xfrm>
        </p:grpSpPr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 rot="54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399261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399261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D6BBA6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386640" y="461273"/>
              <a:ext cx="2510702" cy="2510702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9246875" y="5433235"/>
            <a:ext cx="2498868" cy="2498868"/>
            <a:chOff x="0" y="0"/>
            <a:chExt cx="3331824" cy="3331824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 rot="-108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399261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399261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B48C5D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374877" y="374877"/>
              <a:ext cx="2530206" cy="2530206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6553707" y="5433235"/>
            <a:ext cx="2521050" cy="2521050"/>
            <a:chOff x="0" y="0"/>
            <a:chExt cx="3361401" cy="3361401"/>
          </a:xfrm>
        </p:grpSpPr>
        <p:grpSp>
          <p:nvGrpSpPr>
            <p:cNvPr id="21" name="Group 21"/>
            <p:cNvGrpSpPr>
              <a:grpSpLocks noChangeAspect="1"/>
            </p:cNvGrpSpPr>
            <p:nvPr/>
          </p:nvGrpSpPr>
          <p:grpSpPr>
            <a:xfrm rot="-5400000">
              <a:off x="0" y="0"/>
              <a:ext cx="3361401" cy="3361401"/>
              <a:chOff x="0" y="0"/>
              <a:chExt cx="14400530" cy="1440053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4399261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399261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D6BBA6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408917" y="443611"/>
              <a:ext cx="2508873" cy="2508873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2117997" y="1638411"/>
            <a:ext cx="14052006" cy="83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6"/>
              </a:lnSpc>
            </a:pPr>
            <a:r>
              <a:rPr lang="en-US" sz="3200" b="1" spc="110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JUSTIFICACIÓN DEL PRODUCTO SELECCIONADO 1/2</a:t>
            </a:r>
          </a:p>
        </p:txBody>
      </p:sp>
      <p:sp>
        <p:nvSpPr>
          <p:cNvPr id="27" name="Freeform 27"/>
          <p:cNvSpPr/>
          <p:nvPr/>
        </p:nvSpPr>
        <p:spPr>
          <a:xfrm>
            <a:off x="7323829" y="3437662"/>
            <a:ext cx="952399" cy="1411913"/>
          </a:xfrm>
          <a:custGeom>
            <a:avLst/>
            <a:gdLst/>
            <a:ahLst/>
            <a:cxnLst/>
            <a:rect l="l" t="t" r="r" b="b"/>
            <a:pathLst>
              <a:path w="952399" h="1411913">
                <a:moveTo>
                  <a:pt x="0" y="0"/>
                </a:moveTo>
                <a:lnTo>
                  <a:pt x="952400" y="0"/>
                </a:lnTo>
                <a:lnTo>
                  <a:pt x="952400" y="1411913"/>
                </a:lnTo>
                <a:lnTo>
                  <a:pt x="0" y="1411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968395" y="6099599"/>
            <a:ext cx="1047406" cy="1166140"/>
          </a:xfrm>
          <a:custGeom>
            <a:avLst/>
            <a:gdLst/>
            <a:ahLst/>
            <a:cxnLst/>
            <a:rect l="l" t="t" r="r" b="b"/>
            <a:pathLst>
              <a:path w="1047406" h="1166140">
                <a:moveTo>
                  <a:pt x="0" y="0"/>
                </a:moveTo>
                <a:lnTo>
                  <a:pt x="1047405" y="0"/>
                </a:lnTo>
                <a:lnTo>
                  <a:pt x="1047405" y="1166140"/>
                </a:lnTo>
                <a:lnTo>
                  <a:pt x="0" y="1166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009650" y="3554617"/>
            <a:ext cx="973317" cy="1112940"/>
          </a:xfrm>
          <a:custGeom>
            <a:avLst/>
            <a:gdLst/>
            <a:ahLst/>
            <a:cxnLst/>
            <a:rect l="l" t="t" r="r" b="b"/>
            <a:pathLst>
              <a:path w="973317" h="1112940">
                <a:moveTo>
                  <a:pt x="0" y="0"/>
                </a:moveTo>
                <a:lnTo>
                  <a:pt x="973317" y="0"/>
                </a:lnTo>
                <a:lnTo>
                  <a:pt x="973317" y="1112940"/>
                </a:lnTo>
                <a:lnTo>
                  <a:pt x="0" y="1112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275352" y="6090162"/>
            <a:ext cx="1049354" cy="1233215"/>
          </a:xfrm>
          <a:custGeom>
            <a:avLst/>
            <a:gdLst/>
            <a:ahLst/>
            <a:cxnLst/>
            <a:rect l="l" t="t" r="r" b="b"/>
            <a:pathLst>
              <a:path w="1049354" h="1233215">
                <a:moveTo>
                  <a:pt x="0" y="0"/>
                </a:moveTo>
                <a:lnTo>
                  <a:pt x="1049354" y="0"/>
                </a:lnTo>
                <a:lnTo>
                  <a:pt x="1049354" y="1233216"/>
                </a:lnTo>
                <a:lnTo>
                  <a:pt x="0" y="1233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94183" y="3513879"/>
            <a:ext cx="3071543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01. Justificación: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939939" y="3513879"/>
            <a:ext cx="341812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03. Factibilidad Técnica: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998949" y="6097609"/>
            <a:ext cx="335911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04. Modelo Matemático: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94183" y="6097609"/>
            <a:ext cx="3071543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02. Diferenciación: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594183" y="4005731"/>
            <a:ext cx="2689114" cy="13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El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producto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muestra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un "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desenlace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directo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a la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rutina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diaria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" para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crear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conciencia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, algo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que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otras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apps no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hacen</a:t>
            </a:r>
            <a:endParaRPr lang="en-US" dirty="0">
              <a:solidFill>
                <a:srgbClr val="FFFFFF"/>
              </a:solidFill>
              <a:latin typeface="Open Sans 2"/>
              <a:ea typeface="Open Sans 2"/>
              <a:cs typeface="Open Sans 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594183" y="6542502"/>
            <a:ext cx="2933584" cy="13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Apps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como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MyFitnessPal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registran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calorías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pero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ninguna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proyecta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peso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futuro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basado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en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balance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calórico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939939" y="4005731"/>
            <a:ext cx="2699178" cy="553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Uso de APIs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como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FatSecret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y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Nutritionix</a:t>
            </a:r>
            <a:endParaRPr lang="en-US" dirty="0" err="1">
              <a:solidFill>
                <a:srgbClr val="FFFFFF"/>
              </a:solidFill>
              <a:latin typeface="Open Sans 2"/>
              <a:ea typeface="Open Sans 2"/>
              <a:cs typeface="Open Sans 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2998949" y="6573394"/>
            <a:ext cx="2787064" cy="1681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Se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usará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un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Ajuste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Lineal para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proyecciones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a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corto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plazo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(1-12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semanas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),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respaldado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por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literatura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científica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sobre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balance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energético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14233" y="8070130"/>
            <a:ext cx="335911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05. Base de Datos: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814233" y="8563501"/>
            <a:ext cx="2933584" cy="13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Se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usará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una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base de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datos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relacional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(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Tablas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: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Usuarios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, Alimentos,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Historial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)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por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su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eficiencia</a:t>
            </a:r>
            <a:r>
              <a:rPr lang="en-US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e </a:t>
            </a:r>
            <a:r>
              <a:rPr lang="en-US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integridad</a:t>
            </a:r>
            <a:endParaRPr lang="en-US" dirty="0" err="1">
              <a:solidFill>
                <a:srgbClr val="FFFFFF"/>
              </a:solidFill>
              <a:latin typeface="Open Sans 2"/>
              <a:ea typeface="Open Sans 2"/>
              <a:cs typeface="Open Sans 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5575" y="1500043"/>
            <a:ext cx="3685369" cy="8587723"/>
            <a:chOff x="0" y="0"/>
            <a:chExt cx="575189" cy="13403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5189" cy="1340318"/>
            </a:xfrm>
            <a:custGeom>
              <a:avLst/>
              <a:gdLst/>
              <a:ahLst/>
              <a:cxnLst/>
              <a:rect l="l" t="t" r="r" b="b"/>
              <a:pathLst>
                <a:path w="575189" h="1340318">
                  <a:moveTo>
                    <a:pt x="98734" y="0"/>
                  </a:moveTo>
                  <a:lnTo>
                    <a:pt x="476456" y="0"/>
                  </a:lnTo>
                  <a:cubicBezTo>
                    <a:pt x="502642" y="0"/>
                    <a:pt x="527755" y="10402"/>
                    <a:pt x="546271" y="28918"/>
                  </a:cubicBezTo>
                  <a:cubicBezTo>
                    <a:pt x="564787" y="47435"/>
                    <a:pt x="575189" y="72548"/>
                    <a:pt x="575189" y="98734"/>
                  </a:cubicBezTo>
                  <a:lnTo>
                    <a:pt x="575189" y="1241585"/>
                  </a:lnTo>
                  <a:cubicBezTo>
                    <a:pt x="575189" y="1296114"/>
                    <a:pt x="530985" y="1340318"/>
                    <a:pt x="476456" y="1340318"/>
                  </a:cubicBezTo>
                  <a:lnTo>
                    <a:pt x="98734" y="1340318"/>
                  </a:lnTo>
                  <a:cubicBezTo>
                    <a:pt x="44205" y="1340318"/>
                    <a:pt x="0" y="1296114"/>
                    <a:pt x="0" y="1241585"/>
                  </a:cubicBezTo>
                  <a:lnTo>
                    <a:pt x="0" y="98734"/>
                  </a:lnTo>
                  <a:cubicBezTo>
                    <a:pt x="0" y="44205"/>
                    <a:pt x="44205" y="0"/>
                    <a:pt x="98734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75189" cy="138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17997" y="569978"/>
            <a:ext cx="14052006" cy="83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6"/>
              </a:lnSpc>
            </a:pPr>
            <a:r>
              <a:rPr lang="en-US" sz="3200" b="1" spc="1107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JUSTIFICACIÓN DEL PRODUCTO SELECCIONADO 2/2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2148" y="1743942"/>
            <a:ext cx="3071543" cy="694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spcBef>
                <a:spcPct val="0"/>
              </a:spcBef>
            </a:pP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Validación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del </a:t>
            </a: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Problema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(</a:t>
            </a: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Obesidad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Chile)</a:t>
            </a:r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5037087" y="1500043"/>
            <a:ext cx="3685369" cy="8587723"/>
            <a:chOff x="0" y="0"/>
            <a:chExt cx="575189" cy="13403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5189" cy="1340318"/>
            </a:xfrm>
            <a:custGeom>
              <a:avLst/>
              <a:gdLst/>
              <a:ahLst/>
              <a:cxnLst/>
              <a:rect l="l" t="t" r="r" b="b"/>
              <a:pathLst>
                <a:path w="575189" h="1340318">
                  <a:moveTo>
                    <a:pt x="98734" y="0"/>
                  </a:moveTo>
                  <a:lnTo>
                    <a:pt x="476456" y="0"/>
                  </a:lnTo>
                  <a:cubicBezTo>
                    <a:pt x="502642" y="0"/>
                    <a:pt x="527755" y="10402"/>
                    <a:pt x="546271" y="28918"/>
                  </a:cubicBezTo>
                  <a:cubicBezTo>
                    <a:pt x="564787" y="47435"/>
                    <a:pt x="575189" y="72548"/>
                    <a:pt x="575189" y="98734"/>
                  </a:cubicBezTo>
                  <a:lnTo>
                    <a:pt x="575189" y="1241585"/>
                  </a:lnTo>
                  <a:cubicBezTo>
                    <a:pt x="575189" y="1296114"/>
                    <a:pt x="530985" y="1340318"/>
                    <a:pt x="476456" y="1340318"/>
                  </a:cubicBezTo>
                  <a:lnTo>
                    <a:pt x="98734" y="1340318"/>
                  </a:lnTo>
                  <a:cubicBezTo>
                    <a:pt x="44205" y="1340318"/>
                    <a:pt x="0" y="1296114"/>
                    <a:pt x="0" y="1241585"/>
                  </a:cubicBezTo>
                  <a:lnTo>
                    <a:pt x="0" y="98734"/>
                  </a:lnTo>
                  <a:cubicBezTo>
                    <a:pt x="0" y="44205"/>
                    <a:pt x="44205" y="0"/>
                    <a:pt x="98734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75189" cy="138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6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124887" y="1740016"/>
            <a:ext cx="3418129" cy="70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spcBef>
                <a:spcPct val="0"/>
              </a:spcBef>
            </a:pP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Validación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del Modelo </a:t>
            </a: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Matemático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(</a:t>
            </a: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Ajuste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Lineal):</a:t>
            </a:r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30644" y="2611105"/>
            <a:ext cx="335911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3" lvl="1" indent="-217171" algn="l">
              <a:lnSpc>
                <a:spcPts val="2816"/>
              </a:lnSpc>
              <a:buFont typeface="Arial"/>
              <a:buChar char="•"/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Evidencia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2877" y="2972413"/>
            <a:ext cx="2689114" cy="252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89"/>
              </a:lnSpc>
            </a:pP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La relevancia del proyecto se sustenta en cifras oficiales que indican que el 74,2% de la población adulta en Chile presenta exceso de peso y un 31,2% obesidad, confirmando la urgencia de herramientas de concientización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41465" y="6009039"/>
            <a:ext cx="2701897" cy="1958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189"/>
              </a:lnSpc>
            </a:pP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Ministerio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 Salud de Chile. (2017).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Encuesta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Nacional de Salud 2016–2017: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Primeros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resultados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.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Recuperado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600" u="sng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  <a:hlinkClick r:id="rId2" tooltip="https://www.minsal.cl/ens-2016-2017/"/>
              </a:rPr>
              <a:t>https://www.minsal.cl/ens-2016-2017/</a:t>
            </a:r>
            <a:endParaRPr lang="en-US" sz="1600" dirty="0"/>
          </a:p>
        </p:txBody>
      </p:sp>
      <p:sp>
        <p:nvSpPr>
          <p:cNvPr id="14" name="TextBox 14"/>
          <p:cNvSpPr txBox="1"/>
          <p:nvPr/>
        </p:nvSpPr>
        <p:spPr>
          <a:xfrm>
            <a:off x="5606452" y="2978730"/>
            <a:ext cx="2699178" cy="224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89"/>
              </a:lnSpc>
            </a:pP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Estudios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sobre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metabolismo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señalan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que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en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periodos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cortos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y con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hábitos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constantes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, la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variación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 peso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sigue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una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tendencia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aproximadamente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lineal,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validando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nuestro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algoritmo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predicción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simplificada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608846" y="5968933"/>
            <a:ext cx="2694388" cy="3087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189"/>
              </a:lnSpc>
            </a:pP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Hall, K. D. (2010). Predicting metabolic adaptation, body weight change, and energy intake in humans. American Journal of Physiology-Endocrinology and Metabolism.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Recuperado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1600" u="sng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  <a:hlinkClick r:id="rId3" tooltip="https://pmc.ncbi.nlm.nih.gov/articles/PMC2838532/"/>
              </a:rPr>
              <a:t>https://pmc.ncbi.nlm.nih.gov/articles/PMC2838532/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endParaRPr lang="en-US" sz="1600" dirty="0"/>
          </a:p>
          <a:p>
            <a:pPr algn="l">
              <a:lnSpc>
                <a:spcPts val="2189"/>
              </a:lnSpc>
            </a:pPr>
            <a:endParaRPr lang="en-US" sz="1645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l">
              <a:lnSpc>
                <a:spcPts val="2189"/>
              </a:lnSpc>
            </a:pPr>
            <a:endParaRPr lang="en-US" sz="1645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58794" y="5635633"/>
            <a:ext cx="335911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3" lvl="1" indent="-217171" algn="l">
              <a:lnSpc>
                <a:spcPts val="2816"/>
              </a:lnSpc>
              <a:buFont typeface="Arial"/>
              <a:buChar char="•"/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Referencia APA: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00212" y="2611105"/>
            <a:ext cx="335911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3" lvl="1" indent="-217171" algn="l">
              <a:lnSpc>
                <a:spcPts val="2816"/>
              </a:lnSpc>
              <a:buFont typeface="Arial"/>
              <a:buChar char="•"/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Evidencia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53005" y="5612516"/>
            <a:ext cx="335911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3" lvl="1" indent="-217171" algn="l">
              <a:lnSpc>
                <a:spcPts val="2816"/>
              </a:lnSpc>
              <a:buFont typeface="Arial"/>
              <a:buChar char="•"/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Referencia APA: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66670" y="1500043"/>
            <a:ext cx="3685369" cy="8587723"/>
            <a:chOff x="0" y="0"/>
            <a:chExt cx="575189" cy="13403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5189" cy="1340318"/>
            </a:xfrm>
            <a:custGeom>
              <a:avLst/>
              <a:gdLst/>
              <a:ahLst/>
              <a:cxnLst/>
              <a:rect l="l" t="t" r="r" b="b"/>
              <a:pathLst>
                <a:path w="575189" h="1340318">
                  <a:moveTo>
                    <a:pt x="98734" y="0"/>
                  </a:moveTo>
                  <a:lnTo>
                    <a:pt x="476456" y="0"/>
                  </a:lnTo>
                  <a:cubicBezTo>
                    <a:pt x="502642" y="0"/>
                    <a:pt x="527755" y="10402"/>
                    <a:pt x="546271" y="28918"/>
                  </a:cubicBezTo>
                  <a:cubicBezTo>
                    <a:pt x="564787" y="47435"/>
                    <a:pt x="575189" y="72548"/>
                    <a:pt x="575189" y="98734"/>
                  </a:cubicBezTo>
                  <a:lnTo>
                    <a:pt x="575189" y="1241585"/>
                  </a:lnTo>
                  <a:cubicBezTo>
                    <a:pt x="575189" y="1296114"/>
                    <a:pt x="530985" y="1340318"/>
                    <a:pt x="476456" y="1340318"/>
                  </a:cubicBezTo>
                  <a:lnTo>
                    <a:pt x="98734" y="1340318"/>
                  </a:lnTo>
                  <a:cubicBezTo>
                    <a:pt x="44205" y="1340318"/>
                    <a:pt x="0" y="1296114"/>
                    <a:pt x="0" y="1241585"/>
                  </a:cubicBezTo>
                  <a:lnTo>
                    <a:pt x="0" y="98734"/>
                  </a:lnTo>
                  <a:cubicBezTo>
                    <a:pt x="0" y="44205"/>
                    <a:pt x="44205" y="0"/>
                    <a:pt x="98734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575189" cy="138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6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600290" y="1740016"/>
            <a:ext cx="3418129" cy="69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spcBef>
                <a:spcPct val="0"/>
              </a:spcBef>
            </a:pP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Validación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del </a:t>
            </a: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Método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(Balance </a:t>
            </a: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Calórico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)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942842" y="2963284"/>
            <a:ext cx="2699178" cy="22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89"/>
              </a:lnSpc>
            </a:pP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La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fisiología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establece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que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el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cambio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 peso es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función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directa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del balance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energético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(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Calorías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Ingeridas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- Gasto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Energético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Total),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respaldando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el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núcleo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funcional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 la </a:t>
            </a:r>
            <a:r>
              <a:rPr lang="en-US" sz="160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aplicación</a:t>
            </a:r>
            <a:r>
              <a:rPr lang="en-US" sz="16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945238" y="5968934"/>
            <a:ext cx="2694388" cy="4231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189"/>
              </a:lnSpc>
            </a:pP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Hill, J. O., Wyatt, H. R., &amp; Peters, J. C. (2012). Energy Balance and Obesity. Circulation, 126(1), 126–132. </a:t>
            </a:r>
            <a:r>
              <a:rPr lang="en-US" sz="1600" u="sng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  <a:hlinkClick r:id="rId4" tooltip="https://doi.org/10.1161/CIRCULATIONAHA.111.087213"/>
              </a:rPr>
              <a:t>Hall, K. D. (2010). Predicting metabolic adaptation, body weight change, and energy intake in humans. American Journal of Physiology-Endocrinology and Metabolism. Recuperado de https://pmc.ncbi.nlm.nih.gov/articles/PMC2838532/ </a:t>
            </a:r>
            <a:endParaRPr lang="en-US" sz="1600" dirty="0"/>
          </a:p>
          <a:p>
            <a:pPr algn="l">
              <a:lnSpc>
                <a:spcPts val="2189"/>
              </a:lnSpc>
            </a:pPr>
            <a:endParaRPr lang="en-US" sz="1645" u="sng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  <a:hlinkClick r:id="rId4" tooltip="https://doi.org/10.1161/CIRCULATIONAHA.111.087213"/>
            </a:endParaRPr>
          </a:p>
          <a:p>
            <a:pPr algn="l">
              <a:lnSpc>
                <a:spcPts val="2189"/>
              </a:lnSpc>
            </a:pPr>
            <a:endParaRPr lang="en-US" sz="1645" u="sng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  <a:hlinkClick r:id="rId4" tooltip="https://doi.org/10.1161/CIRCULATIONAHA.111.087213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458502" y="2611105"/>
            <a:ext cx="335911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3" lvl="1" indent="-217171" algn="l">
              <a:lnSpc>
                <a:spcPts val="2816"/>
              </a:lnSpc>
              <a:buFont typeface="Arial"/>
              <a:buChar char="•"/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Evidencia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3949" y="5643409"/>
            <a:ext cx="335911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3" lvl="1" indent="-217171" algn="l">
              <a:lnSpc>
                <a:spcPts val="2816"/>
              </a:lnSpc>
              <a:buFont typeface="Arial"/>
              <a:buChar char="•"/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Referencia APA: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573931" y="1500043"/>
            <a:ext cx="3685369" cy="8587723"/>
            <a:chOff x="0" y="0"/>
            <a:chExt cx="575189" cy="134031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75189" cy="1340318"/>
            </a:xfrm>
            <a:custGeom>
              <a:avLst/>
              <a:gdLst/>
              <a:ahLst/>
              <a:cxnLst/>
              <a:rect l="l" t="t" r="r" b="b"/>
              <a:pathLst>
                <a:path w="575189" h="1340318">
                  <a:moveTo>
                    <a:pt x="98734" y="0"/>
                  </a:moveTo>
                  <a:lnTo>
                    <a:pt x="476456" y="0"/>
                  </a:lnTo>
                  <a:cubicBezTo>
                    <a:pt x="502642" y="0"/>
                    <a:pt x="527755" y="10402"/>
                    <a:pt x="546271" y="28918"/>
                  </a:cubicBezTo>
                  <a:cubicBezTo>
                    <a:pt x="564787" y="47435"/>
                    <a:pt x="575189" y="72548"/>
                    <a:pt x="575189" y="98734"/>
                  </a:cubicBezTo>
                  <a:lnTo>
                    <a:pt x="575189" y="1241585"/>
                  </a:lnTo>
                  <a:cubicBezTo>
                    <a:pt x="575189" y="1296114"/>
                    <a:pt x="530985" y="1340318"/>
                    <a:pt x="476456" y="1340318"/>
                  </a:cubicBezTo>
                  <a:lnTo>
                    <a:pt x="98734" y="1340318"/>
                  </a:lnTo>
                  <a:cubicBezTo>
                    <a:pt x="44205" y="1340318"/>
                    <a:pt x="0" y="1296114"/>
                    <a:pt x="0" y="1241585"/>
                  </a:cubicBezTo>
                  <a:lnTo>
                    <a:pt x="0" y="98734"/>
                  </a:lnTo>
                  <a:cubicBezTo>
                    <a:pt x="0" y="44205"/>
                    <a:pt x="44205" y="0"/>
                    <a:pt x="98734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575189" cy="138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16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3702650" y="1743942"/>
            <a:ext cx="3418129" cy="105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spcBef>
                <a:spcPct val="0"/>
              </a:spcBef>
            </a:pP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Validación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Técnica (</a:t>
            </a:r>
            <a:r>
              <a:rPr lang="en-US" sz="2000" b="1" spc="-46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Gestión</a:t>
            </a:r>
            <a:r>
              <a:rPr lang="en-US" sz="2000" b="1" spc="-46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 Datos)</a:t>
            </a:r>
            <a:endParaRPr lang="en-US"/>
          </a:p>
          <a:p>
            <a:pPr algn="l">
              <a:lnSpc>
                <a:spcPts val="2816"/>
              </a:lnSpc>
              <a:spcBef>
                <a:spcPct val="0"/>
              </a:spcBef>
            </a:pPr>
            <a:endParaRPr lang="en-US" sz="2011" b="1" spc="-46">
              <a:solidFill>
                <a:srgbClr val="FFFFF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062124" y="2983854"/>
            <a:ext cx="2699178" cy="280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89"/>
              </a:lnSpc>
            </a:pP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El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uso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 bases de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datos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relacionales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es fundamental para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garantizar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la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integridad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referencial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y la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consistencia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 la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información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asegurando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que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los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registros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históricos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y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nutricionales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del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usuario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no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tengan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errores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ni</a:t>
            </a:r>
            <a:r>
              <a:rPr lang="en-US" sz="1600" dirty="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duplicados</a:t>
            </a:r>
            <a:endParaRPr lang="en-US" sz="1600" dirty="0" err="1">
              <a:solidFill>
                <a:srgbClr val="FFFFFF"/>
              </a:solidFill>
              <a:latin typeface="Open Sans 2"/>
              <a:ea typeface="Open Sans 2"/>
              <a:cs typeface="Open Sans 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018182" y="6173911"/>
            <a:ext cx="2787064" cy="336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89"/>
              </a:lnSpc>
            </a:pPr>
            <a:r>
              <a:rPr lang="en-US" sz="1600">
                <a:solidFill>
                  <a:srgbClr val="FFFFFF"/>
                </a:solidFill>
                <a:ea typeface="+mn-lt"/>
                <a:cs typeface="+mn-lt"/>
                <a:sym typeface="Open Sans 2"/>
              </a:rPr>
              <a:t>Kahn, M. G., Brown, J. S., Chun, A. T., Davidson, B. N., Meeker, D., Ryan, P. B., Schilling, L. M., &amp; Weiskopf, N. G. (2015). </a:t>
            </a:r>
            <a:r>
              <a:rPr lang="en-US" sz="1600" i="1">
                <a:solidFill>
                  <a:srgbClr val="FFFFFF"/>
                </a:solidFill>
                <a:ea typeface="+mn-lt"/>
                <a:cs typeface="+mn-lt"/>
                <a:sym typeface="Open Sans 2"/>
              </a:rPr>
              <a:t>Transparent reporting of data quality in distributed data networks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  <a:sym typeface="Open Sans 2"/>
              </a:rPr>
              <a:t>. EGEMS (Washington, D.C.), 3(1), 7. 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  <a:sym typeface="Open Sans 2"/>
              </a:rPr>
              <a:t>https://doi.org/10.13063/2327-9214.1165</a:t>
            </a:r>
            <a:endParaRPr lang="es-ES" dirty="0"/>
          </a:p>
          <a:p>
            <a:pPr algn="just">
              <a:lnSpc>
                <a:spcPts val="2189"/>
              </a:lnSpc>
            </a:pPr>
            <a:endParaRPr lang="en-US" sz="1645" u="sng">
              <a:solidFill>
                <a:srgbClr val="FFFFFF"/>
              </a:solidFill>
              <a:latin typeface="Open Sans 2"/>
              <a:ea typeface="Open Sans 2"/>
              <a:cs typeface="Open Sans 2"/>
              <a:hlinkClick r:id="rId4"/>
            </a:endParaRPr>
          </a:p>
          <a:p>
            <a:pPr algn="l">
              <a:lnSpc>
                <a:spcPts val="2189"/>
              </a:lnSpc>
            </a:pPr>
            <a:endParaRPr lang="en-US" sz="1645" u="sng">
              <a:solidFill>
                <a:srgbClr val="FFFFFF"/>
              </a:solidFill>
              <a:latin typeface="Open Sans 2"/>
              <a:ea typeface="Open Sans 2"/>
              <a:cs typeface="Open Sans 2"/>
              <a:sym typeface="Open Sans 2"/>
              <a:hlinkClick r:id="rId4" tooltip="https://doi.org/10.1161/CIRCULATIONAHA.111.087213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575816" y="2611105"/>
            <a:ext cx="335911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3" lvl="1" indent="-217171" algn="l">
              <a:lnSpc>
                <a:spcPts val="2816"/>
              </a:lnSpc>
              <a:buFont typeface="Arial"/>
              <a:buChar char="•"/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Evidencia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577786" y="5832941"/>
            <a:ext cx="3359119" cy="348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3" lvl="1" indent="-217171" algn="l">
              <a:lnSpc>
                <a:spcPts val="2816"/>
              </a:lnSpc>
              <a:buFont typeface="Arial"/>
              <a:buChar char="•"/>
            </a:pPr>
            <a:r>
              <a:rPr lang="en-US" sz="2011" b="1" spc="-46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Referencia APA: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2068">
            <a:off x="12558574" y="-4180257"/>
            <a:ext cx="9213358" cy="7504698"/>
          </a:xfrm>
          <a:custGeom>
            <a:avLst/>
            <a:gdLst/>
            <a:ahLst/>
            <a:cxnLst/>
            <a:rect l="l" t="t" r="r" b="b"/>
            <a:pathLst>
              <a:path w="9213358" h="7504698">
                <a:moveTo>
                  <a:pt x="0" y="0"/>
                </a:moveTo>
                <a:lnTo>
                  <a:pt x="9213358" y="0"/>
                </a:lnTo>
                <a:lnTo>
                  <a:pt x="9213358" y="7504698"/>
                </a:lnTo>
                <a:lnTo>
                  <a:pt x="0" y="7504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99479" y="3561417"/>
            <a:ext cx="7385596" cy="158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2000" b="1" dirty="0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Funcionamiento</a:t>
            </a: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: </a:t>
            </a:r>
          </a:p>
          <a:p>
            <a:pPr marL="387985" lvl="1" indent="-193675" algn="just">
              <a:lnSpc>
                <a:spcPts val="2519"/>
              </a:lnSpc>
              <a:buFont typeface="Arial"/>
              <a:buChar char="•"/>
            </a:pP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Ingreso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alimentos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(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calorías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) y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actividad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física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(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calorías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quemadas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).</a:t>
            </a:r>
            <a:endParaRPr lang="en-US" dirty="0">
              <a:solidFill>
                <a:srgbClr val="022A3D"/>
              </a:solidFill>
              <a:latin typeface="Open Sans 1"/>
              <a:ea typeface="Open Sans 1"/>
              <a:cs typeface="Open Sans 1"/>
            </a:endParaRPr>
          </a:p>
          <a:p>
            <a:pPr marL="387985" lvl="1" indent="-193675" algn="just">
              <a:lnSpc>
                <a:spcPts val="2519"/>
              </a:lnSpc>
              <a:buFont typeface="Arial"/>
              <a:buChar char="•"/>
            </a:pP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Periodo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calibración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1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semana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  <a:endParaRPr lang="en-US" dirty="0">
              <a:solidFill>
                <a:srgbClr val="022A3D"/>
              </a:solidFill>
              <a:latin typeface="Open Sans 1"/>
              <a:ea typeface="Open Sans 1"/>
              <a:cs typeface="Open Sans 1"/>
            </a:endParaRPr>
          </a:p>
          <a:p>
            <a:pPr marL="387985" lvl="1" indent="-193675" algn="l">
              <a:lnSpc>
                <a:spcPts val="2519"/>
              </a:lnSpc>
              <a:buFont typeface="Arial"/>
              <a:buChar char="•"/>
            </a:pP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Estimación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peso a 1, 3 y 6 meses.</a:t>
            </a:r>
            <a:endParaRPr lang="en-US" dirty="0">
              <a:solidFill>
                <a:srgbClr val="022A3D"/>
              </a:solidFill>
              <a:latin typeface="Open Sans 1"/>
              <a:ea typeface="Open Sans 1"/>
              <a:cs typeface="Open Sans 1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199479" y="8611178"/>
            <a:ext cx="6483182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2200815" y="1455415"/>
            <a:ext cx="11366044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3200" b="1" spc="848">
                <a:solidFill>
                  <a:srgbClr val="022A3D"/>
                </a:solidFill>
                <a:latin typeface="Open Sans 1 Medium"/>
                <a:ea typeface="Open Sans 1 Medium"/>
                <a:cs typeface="Open Sans 1 Medium"/>
                <a:sym typeface="Open Sans 1 Medium"/>
              </a:rPr>
              <a:t>PRESENTACIÓN DEL PRODUCTO FINAL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2056150" y="2072473"/>
            <a:ext cx="11530433" cy="48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4"/>
              </a:lnSpc>
            </a:pPr>
            <a:r>
              <a:rPr lang="en-US" sz="3785" b="1" spc="1567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KALORI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715228" y="1298787"/>
            <a:ext cx="1830961" cy="183096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014915" y="756491"/>
            <a:ext cx="700314" cy="70031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199479" y="5466141"/>
            <a:ext cx="15562849" cy="126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000" b="1" spc="-41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Demostración</a:t>
            </a:r>
            <a:r>
              <a:rPr lang="en-US" sz="2000" b="1" spc="-4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: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Dado </a:t>
            </a: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que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el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software </a:t>
            </a: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está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en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diseño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, la </a:t>
            </a: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demostración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se </a:t>
            </a: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realizará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mediante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:</a:t>
            </a:r>
            <a:endParaRPr lang="en-US" sz="1800" spc="-41" dirty="0">
              <a:solidFill>
                <a:srgbClr val="022A3D"/>
              </a:solidFill>
              <a:latin typeface="Open Sans 1"/>
              <a:ea typeface="Open Sans 1"/>
              <a:cs typeface="Open Sans 1"/>
            </a:endParaRPr>
          </a:p>
          <a:p>
            <a:pPr marL="388620" lvl="1" indent="-194310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Prototipo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Visual: Mockup</a:t>
            </a:r>
            <a:endParaRPr lang="en-US" sz="1800" spc="-41" dirty="0">
              <a:solidFill>
                <a:srgbClr val="022A3D"/>
              </a:solidFill>
              <a:latin typeface="Open Sans 1"/>
              <a:ea typeface="Open Sans 1"/>
              <a:cs typeface="Open Sans 1"/>
            </a:endParaRPr>
          </a:p>
          <a:p>
            <a:pPr marL="388620" lvl="1" indent="-194310" algn="l">
              <a:lnSpc>
                <a:spcPts val="2520"/>
              </a:lnSpc>
              <a:buFont typeface="Arial"/>
              <a:buChar char="•"/>
            </a:pP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Prototipo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App </a:t>
            </a:r>
            <a:r>
              <a:rPr lang="en-US" sz="1800" spc="-41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en</a:t>
            </a:r>
            <a:r>
              <a:rPr lang="en-US" sz="1800" spc="-41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Visual Studio Code </a:t>
            </a:r>
            <a:endParaRPr lang="en-US" sz="1800" spc="-41" dirty="0">
              <a:solidFill>
                <a:srgbClr val="022A3D"/>
              </a:solidFill>
              <a:latin typeface="Open Sans 1"/>
              <a:ea typeface="Open Sans 1"/>
              <a:cs typeface="Open Sans 1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3A9588D-F02C-0A40-E86E-1639FD2EF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525" y="2405707"/>
            <a:ext cx="2683476" cy="61243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447377" y="1417902"/>
            <a:ext cx="937149" cy="4427463"/>
            <a:chOff x="0" y="0"/>
            <a:chExt cx="660400" cy="311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119992"/>
            </a:xfrm>
            <a:custGeom>
              <a:avLst/>
              <a:gdLst/>
              <a:ahLst/>
              <a:cxnLst/>
              <a:rect l="l" t="t" r="r" b="b"/>
              <a:pathLst>
                <a:path w="660400" h="3119992">
                  <a:moveTo>
                    <a:pt x="220252" y="3100923"/>
                  </a:moveTo>
                  <a:cubicBezTo>
                    <a:pt x="254109" y="3112436"/>
                    <a:pt x="292600" y="3119992"/>
                    <a:pt x="330378" y="3119992"/>
                  </a:cubicBezTo>
                  <a:cubicBezTo>
                    <a:pt x="368157" y="3119992"/>
                    <a:pt x="404509" y="3113515"/>
                    <a:pt x="438009" y="3102001"/>
                  </a:cubicBezTo>
                  <a:cubicBezTo>
                    <a:pt x="438723" y="3101641"/>
                    <a:pt x="439435" y="3101641"/>
                    <a:pt x="440148" y="3101282"/>
                  </a:cubicBezTo>
                  <a:cubicBezTo>
                    <a:pt x="565955" y="3055227"/>
                    <a:pt x="658618" y="2933613"/>
                    <a:pt x="660400" y="27402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738207"/>
                  </a:lnTo>
                  <a:cubicBezTo>
                    <a:pt x="1782" y="2934332"/>
                    <a:pt x="93019" y="3055947"/>
                    <a:pt x="220252" y="3100923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60400" cy="3031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518667">
            <a:off x="12249435" y="3126017"/>
            <a:ext cx="1075126" cy="107512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2A3D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60713" tIns="60713" rIns="60713" bIns="6071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3186393" y="1417902"/>
            <a:ext cx="937149" cy="4427463"/>
            <a:chOff x="0" y="0"/>
            <a:chExt cx="660400" cy="31199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0400" cy="3119992"/>
            </a:xfrm>
            <a:custGeom>
              <a:avLst/>
              <a:gdLst/>
              <a:ahLst/>
              <a:cxnLst/>
              <a:rect l="l" t="t" r="r" b="b"/>
              <a:pathLst>
                <a:path w="660400" h="3119992">
                  <a:moveTo>
                    <a:pt x="220252" y="3100923"/>
                  </a:moveTo>
                  <a:cubicBezTo>
                    <a:pt x="254109" y="3112436"/>
                    <a:pt x="292600" y="3119992"/>
                    <a:pt x="330378" y="3119992"/>
                  </a:cubicBezTo>
                  <a:cubicBezTo>
                    <a:pt x="368157" y="3119992"/>
                    <a:pt x="404509" y="3113515"/>
                    <a:pt x="438009" y="3102001"/>
                  </a:cubicBezTo>
                  <a:cubicBezTo>
                    <a:pt x="438723" y="3101641"/>
                    <a:pt x="439435" y="3101641"/>
                    <a:pt x="440148" y="3101282"/>
                  </a:cubicBezTo>
                  <a:cubicBezTo>
                    <a:pt x="565955" y="3055227"/>
                    <a:pt x="658618" y="2933613"/>
                    <a:pt x="660400" y="27402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738207"/>
                  </a:lnTo>
                  <a:cubicBezTo>
                    <a:pt x="1782" y="2934332"/>
                    <a:pt x="93019" y="3055947"/>
                    <a:pt x="220252" y="3100923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60400" cy="3031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518667">
            <a:off x="787737" y="3063172"/>
            <a:ext cx="1136923" cy="113692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2A3D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79641" y="3136921"/>
            <a:ext cx="712096" cy="936969"/>
          </a:xfrm>
          <a:custGeom>
            <a:avLst/>
            <a:gdLst/>
            <a:ahLst/>
            <a:cxnLst/>
            <a:rect l="l" t="t" r="r" b="b"/>
            <a:pathLst>
              <a:path w="712096" h="936969">
                <a:moveTo>
                  <a:pt x="0" y="0"/>
                </a:moveTo>
                <a:lnTo>
                  <a:pt x="712096" y="0"/>
                </a:lnTo>
                <a:lnTo>
                  <a:pt x="712096" y="936969"/>
                </a:lnTo>
                <a:lnTo>
                  <a:pt x="0" y="9369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523943" y="3293844"/>
            <a:ext cx="577234" cy="780046"/>
          </a:xfrm>
          <a:custGeom>
            <a:avLst/>
            <a:gdLst/>
            <a:ahLst/>
            <a:cxnLst/>
            <a:rect l="l" t="t" r="r" b="b"/>
            <a:pathLst>
              <a:path w="577234" h="780046">
                <a:moveTo>
                  <a:pt x="0" y="0"/>
                </a:moveTo>
                <a:lnTo>
                  <a:pt x="577234" y="0"/>
                </a:lnTo>
                <a:lnTo>
                  <a:pt x="577234" y="780046"/>
                </a:lnTo>
                <a:lnTo>
                  <a:pt x="0" y="780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-5400000">
            <a:off x="3186393" y="4737024"/>
            <a:ext cx="937149" cy="4427463"/>
            <a:chOff x="0" y="0"/>
            <a:chExt cx="660400" cy="31199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0400" cy="3119992"/>
            </a:xfrm>
            <a:custGeom>
              <a:avLst/>
              <a:gdLst/>
              <a:ahLst/>
              <a:cxnLst/>
              <a:rect l="l" t="t" r="r" b="b"/>
              <a:pathLst>
                <a:path w="660400" h="3119992">
                  <a:moveTo>
                    <a:pt x="220252" y="3100923"/>
                  </a:moveTo>
                  <a:cubicBezTo>
                    <a:pt x="254109" y="3112436"/>
                    <a:pt x="292600" y="3119992"/>
                    <a:pt x="330378" y="3119992"/>
                  </a:cubicBezTo>
                  <a:cubicBezTo>
                    <a:pt x="368157" y="3119992"/>
                    <a:pt x="404509" y="3113515"/>
                    <a:pt x="438009" y="3102001"/>
                  </a:cubicBezTo>
                  <a:cubicBezTo>
                    <a:pt x="438723" y="3101641"/>
                    <a:pt x="439435" y="3101641"/>
                    <a:pt x="440148" y="3101282"/>
                  </a:cubicBezTo>
                  <a:cubicBezTo>
                    <a:pt x="565955" y="3055227"/>
                    <a:pt x="658618" y="2933613"/>
                    <a:pt x="660400" y="27402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738207"/>
                  </a:lnTo>
                  <a:cubicBezTo>
                    <a:pt x="1782" y="2934332"/>
                    <a:pt x="93019" y="3055947"/>
                    <a:pt x="220252" y="3100923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60400" cy="3031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5518667">
            <a:off x="856152" y="6353115"/>
            <a:ext cx="1136923" cy="113692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2A3D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5400000">
            <a:off x="14298995" y="4707845"/>
            <a:ext cx="937149" cy="4427463"/>
            <a:chOff x="0" y="0"/>
            <a:chExt cx="660400" cy="31199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0400" cy="3119992"/>
            </a:xfrm>
            <a:custGeom>
              <a:avLst/>
              <a:gdLst/>
              <a:ahLst/>
              <a:cxnLst/>
              <a:rect l="l" t="t" r="r" b="b"/>
              <a:pathLst>
                <a:path w="660400" h="3119992">
                  <a:moveTo>
                    <a:pt x="220252" y="3100923"/>
                  </a:moveTo>
                  <a:cubicBezTo>
                    <a:pt x="254109" y="3112436"/>
                    <a:pt x="292600" y="3119992"/>
                    <a:pt x="330378" y="3119992"/>
                  </a:cubicBezTo>
                  <a:cubicBezTo>
                    <a:pt x="368157" y="3119992"/>
                    <a:pt x="404509" y="3113515"/>
                    <a:pt x="438009" y="3102001"/>
                  </a:cubicBezTo>
                  <a:cubicBezTo>
                    <a:pt x="438723" y="3101641"/>
                    <a:pt x="439435" y="3101641"/>
                    <a:pt x="440148" y="3101282"/>
                  </a:cubicBezTo>
                  <a:cubicBezTo>
                    <a:pt x="565955" y="3055227"/>
                    <a:pt x="658618" y="2933613"/>
                    <a:pt x="660400" y="274024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2738207"/>
                  </a:lnTo>
                  <a:cubicBezTo>
                    <a:pt x="1782" y="2934332"/>
                    <a:pt x="93019" y="3055947"/>
                    <a:pt x="220252" y="3100923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60400" cy="3031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5518667">
            <a:off x="12274997" y="6352067"/>
            <a:ext cx="1075126" cy="107512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2A3D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60713" tIns="60713" rIns="60713" bIns="6071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2452587" y="6521777"/>
            <a:ext cx="668823" cy="735705"/>
          </a:xfrm>
          <a:custGeom>
            <a:avLst/>
            <a:gdLst/>
            <a:ahLst/>
            <a:cxnLst/>
            <a:rect l="l" t="t" r="r" b="b"/>
            <a:pathLst>
              <a:path w="668823" h="735705">
                <a:moveTo>
                  <a:pt x="0" y="0"/>
                </a:moveTo>
                <a:lnTo>
                  <a:pt x="668822" y="0"/>
                </a:lnTo>
                <a:lnTo>
                  <a:pt x="668822" y="735705"/>
                </a:lnTo>
                <a:lnTo>
                  <a:pt x="0" y="7357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52903" y="6423822"/>
            <a:ext cx="1006592" cy="966328"/>
          </a:xfrm>
          <a:custGeom>
            <a:avLst/>
            <a:gdLst/>
            <a:ahLst/>
            <a:cxnLst/>
            <a:rect l="l" t="t" r="r" b="b"/>
            <a:pathLst>
              <a:path w="1006592" h="966328">
                <a:moveTo>
                  <a:pt x="0" y="0"/>
                </a:moveTo>
                <a:lnTo>
                  <a:pt x="1006592" y="0"/>
                </a:lnTo>
                <a:lnTo>
                  <a:pt x="1006592" y="966329"/>
                </a:lnTo>
                <a:lnTo>
                  <a:pt x="0" y="9663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696280" y="3304158"/>
            <a:ext cx="2707341" cy="818971"/>
          </a:xfrm>
          <a:custGeom>
            <a:avLst/>
            <a:gdLst/>
            <a:ahLst/>
            <a:cxnLst/>
            <a:rect l="l" t="t" r="r" b="b"/>
            <a:pathLst>
              <a:path w="2707341" h="818971">
                <a:moveTo>
                  <a:pt x="0" y="0"/>
                </a:moveTo>
                <a:lnTo>
                  <a:pt x="2707341" y="0"/>
                </a:lnTo>
                <a:lnTo>
                  <a:pt x="2707341" y="818971"/>
                </a:lnTo>
                <a:lnTo>
                  <a:pt x="0" y="8189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3099693" y="4376543"/>
            <a:ext cx="5764057" cy="46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96" spc="67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Gasto Energético Total (GET) = GEB × Factor de Actividad </a:t>
            </a:r>
          </a:p>
        </p:txBody>
      </p:sp>
      <p:sp>
        <p:nvSpPr>
          <p:cNvPr id="32" name="Freeform 32"/>
          <p:cNvSpPr/>
          <p:nvPr/>
        </p:nvSpPr>
        <p:spPr>
          <a:xfrm flipH="1">
            <a:off x="7613592" y="6568695"/>
            <a:ext cx="2898281" cy="876730"/>
          </a:xfrm>
          <a:custGeom>
            <a:avLst/>
            <a:gdLst/>
            <a:ahLst/>
            <a:cxnLst/>
            <a:rect l="l" t="t" r="r" b="b"/>
            <a:pathLst>
              <a:path w="2898281" h="876730">
                <a:moveTo>
                  <a:pt x="2898280" y="0"/>
                </a:moveTo>
                <a:lnTo>
                  <a:pt x="0" y="0"/>
                </a:lnTo>
                <a:lnTo>
                  <a:pt x="0" y="876730"/>
                </a:lnTo>
                <a:lnTo>
                  <a:pt x="2898280" y="876730"/>
                </a:lnTo>
                <a:lnTo>
                  <a:pt x="289828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5400000">
            <a:off x="14289526" y="5308310"/>
            <a:ext cx="1333409" cy="403356"/>
          </a:xfrm>
          <a:custGeom>
            <a:avLst/>
            <a:gdLst/>
            <a:ahLst/>
            <a:cxnLst/>
            <a:rect l="l" t="t" r="r" b="b"/>
            <a:pathLst>
              <a:path w="1333409" h="403356">
                <a:moveTo>
                  <a:pt x="0" y="0"/>
                </a:moveTo>
                <a:lnTo>
                  <a:pt x="1333409" y="0"/>
                </a:lnTo>
                <a:lnTo>
                  <a:pt x="1333409" y="403356"/>
                </a:lnTo>
                <a:lnTo>
                  <a:pt x="0" y="403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7832313" y="4314265"/>
            <a:ext cx="2435275" cy="2109557"/>
          </a:xfrm>
          <a:custGeom>
            <a:avLst/>
            <a:gdLst/>
            <a:ahLst/>
            <a:cxnLst/>
            <a:rect l="l" t="t" r="r" b="b"/>
            <a:pathLst>
              <a:path w="2435275" h="2109557">
                <a:moveTo>
                  <a:pt x="0" y="0"/>
                </a:moveTo>
                <a:lnTo>
                  <a:pt x="2435275" y="0"/>
                </a:lnTo>
                <a:lnTo>
                  <a:pt x="2435275" y="2109557"/>
                </a:lnTo>
                <a:lnTo>
                  <a:pt x="0" y="21095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943793" y="3266058"/>
            <a:ext cx="3787719" cy="79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FORMULA HARRIS-BENEDICT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872" y="1338107"/>
            <a:ext cx="16573809" cy="5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7"/>
              </a:lnSpc>
            </a:pPr>
            <a:r>
              <a:rPr lang="en-US" sz="3599" b="1" spc="543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ESQUEMA DE NOCIONES MATEMÁTICAS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35689" y="4376543"/>
            <a:ext cx="4408792" cy="2058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696" lvl="1" indent="-172348" algn="l">
              <a:lnSpc>
                <a:spcPts val="1836"/>
              </a:lnSpc>
              <a:buFont typeface="Arial"/>
              <a:buChar char="•"/>
            </a:pPr>
            <a:r>
              <a:rPr lang="en-US" sz="1596" spc="67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Para hombres, la fórmula original de Harris-Benedict es la siguiente:</a:t>
            </a:r>
          </a:p>
          <a:p>
            <a:pPr marL="344696" lvl="1" indent="-172348" algn="l">
              <a:lnSpc>
                <a:spcPts val="1836"/>
              </a:lnSpc>
              <a:buFont typeface="Arial"/>
              <a:buChar char="•"/>
            </a:pPr>
            <a:r>
              <a:rPr lang="en-US" sz="1596" spc="67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RMB = 66 + (13.75 x peso en kg) + (5 x altura en cm) – (6.75 x edad en años)</a:t>
            </a:r>
          </a:p>
          <a:p>
            <a:pPr marL="344696" lvl="1" indent="-172348" algn="l">
              <a:lnSpc>
                <a:spcPts val="1836"/>
              </a:lnSpc>
              <a:buFont typeface="Arial"/>
              <a:buChar char="•"/>
            </a:pPr>
            <a:r>
              <a:rPr lang="en-US" sz="1596" spc="67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Para mujeres, la fórmula es ligeramente diferente:</a:t>
            </a:r>
          </a:p>
          <a:p>
            <a:pPr marL="344696" lvl="1" indent="-172348" algn="l">
              <a:lnSpc>
                <a:spcPts val="1836"/>
              </a:lnSpc>
              <a:buFont typeface="Arial"/>
              <a:buChar char="•"/>
            </a:pPr>
            <a:r>
              <a:rPr lang="en-US" sz="1596" spc="67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RMB = 655 + (9.56 x peso en kg) + (1.85 x altura en cm) - (4.68 x edad en años)</a:t>
            </a:r>
          </a:p>
          <a:p>
            <a:pPr algn="l">
              <a:lnSpc>
                <a:spcPts val="1836"/>
              </a:lnSpc>
            </a:pPr>
            <a:endParaRPr lang="en-US" sz="1596" spc="67">
              <a:solidFill>
                <a:srgbClr val="022A3D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205036" y="3245771"/>
            <a:ext cx="3905745" cy="79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GASTO ENERGÉTICO TOTAL (GET)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342793" y="6676608"/>
            <a:ext cx="3905745" cy="38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BALANCE CALÓRICO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43793" y="6676608"/>
            <a:ext cx="3787719" cy="38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CONVERSIÓN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59906" y="7785543"/>
            <a:ext cx="4408792" cy="229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96" spc="67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7.700 = 1kg GRASA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653423" y="7759750"/>
            <a:ext cx="4457358" cy="233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96" spc="67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INGESTA - GASTO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2068">
            <a:off x="12558574" y="-4180257"/>
            <a:ext cx="9213358" cy="7504698"/>
          </a:xfrm>
          <a:custGeom>
            <a:avLst/>
            <a:gdLst/>
            <a:ahLst/>
            <a:cxnLst/>
            <a:rect l="l" t="t" r="r" b="b"/>
            <a:pathLst>
              <a:path w="9213358" h="7504698">
                <a:moveTo>
                  <a:pt x="0" y="0"/>
                </a:moveTo>
                <a:lnTo>
                  <a:pt x="9213358" y="0"/>
                </a:lnTo>
                <a:lnTo>
                  <a:pt x="9213358" y="7504698"/>
                </a:lnTo>
                <a:lnTo>
                  <a:pt x="0" y="7504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283D6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12413" y="3133067"/>
            <a:ext cx="4546019" cy="254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57"/>
              </a:lnSpc>
              <a:spcBef>
                <a:spcPct val="0"/>
              </a:spcBef>
            </a:pP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Se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logro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desarrollar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un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prototipo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operativo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Kalori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que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integra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exitosamente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la formula de Harris-Benedict con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datos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reales. A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diferencia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un simple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diseño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,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el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software es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capaz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solicitar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datos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al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usuario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,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procesarlos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y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generar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proyecciones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matemáticas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dirty="0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automáticas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id="7" name="AutoShape 7"/>
          <p:cNvSpPr/>
          <p:nvPr/>
        </p:nvSpPr>
        <p:spPr>
          <a:xfrm>
            <a:off x="13374499" y="9420225"/>
            <a:ext cx="6396656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6165155" y="1456805"/>
            <a:ext cx="1339151" cy="133915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014915" y="756491"/>
            <a:ext cx="700314" cy="70031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350784" y="6319974"/>
            <a:ext cx="5720755" cy="2345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92"/>
              </a:lnSpc>
              <a:spcBef>
                <a:spcPct val="0"/>
              </a:spcBef>
            </a:pP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Demostramos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la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capacidad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conectar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el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entorno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desarrollo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con la API de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FatSecret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,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permitiendo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obtener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información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nutricional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verídica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para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alimentar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el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algoritmo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. Esto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confirma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que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la barrera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técnica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“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obtener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datos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alimentos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”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esta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resuelta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  <a:endParaRPr lang="en-US" dirty="0">
              <a:solidFill>
                <a:srgbClr val="022A3D"/>
              </a:solidFill>
              <a:latin typeface="Open Sans 1"/>
              <a:ea typeface="Open Sans 1"/>
              <a:cs typeface="Open Sans 1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-675170" y="384507"/>
            <a:ext cx="6396656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567361" y="1542530"/>
            <a:ext cx="15358064" cy="48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</a:pPr>
            <a:r>
              <a:rPr lang="en-US" sz="3799" b="1" spc="1573">
                <a:solidFill>
                  <a:srgbClr val="022A3D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CONCLUSIONES Y REFLEXIONES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70527" y="2371382"/>
            <a:ext cx="3426172" cy="672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 Hito Técnico </a:t>
            </a:r>
            <a:r>
              <a:rPr lang="en-US" sz="2000" b="1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Logrado</a:t>
            </a: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endParaRPr lang="en-US" sz="2000" b="1" dirty="0">
              <a:solidFill>
                <a:srgbClr val="022A3D"/>
              </a:solidFill>
              <a:latin typeface="Open Sans 1 Bold"/>
              <a:ea typeface="Open Sans 1 Bold"/>
              <a:cs typeface="Open Sans 1 Bold"/>
            </a:endParaR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(</a:t>
            </a:r>
            <a:r>
              <a:rPr lang="en-US" sz="2000" b="1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Prototipo</a:t>
            </a: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000" b="1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Funcional</a:t>
            </a: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)</a:t>
            </a:r>
            <a:endParaRPr lang="en-US" sz="2000" b="1" dirty="0">
              <a:solidFill>
                <a:srgbClr val="022A3D"/>
              </a:solidFill>
              <a:latin typeface="Open Sans 1 Bold"/>
              <a:ea typeface="Open Sans 1 Bold"/>
              <a:cs typeface="Open Sans 1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258109" y="5880994"/>
            <a:ext cx="5916723" cy="3259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 </a:t>
            </a:r>
            <a:r>
              <a:rPr lang="en-US" sz="2000" b="1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Validacion</a:t>
            </a: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 la </a:t>
            </a:r>
            <a:r>
              <a:rPr lang="en-US" sz="2000" b="1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integracion</a:t>
            </a: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(API </a:t>
            </a:r>
            <a:r>
              <a:rPr lang="en-US" sz="2000" b="1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FatSecret</a:t>
            </a: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17799" y="2377145"/>
            <a:ext cx="3909713" cy="672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 </a:t>
            </a:r>
            <a:r>
              <a:rPr lang="en-US" sz="2000" b="1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Solución</a:t>
            </a: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a la </a:t>
            </a:r>
            <a:r>
              <a:rPr lang="en-US" sz="2000" b="1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Problemática</a:t>
            </a:r>
            <a:endParaRPr lang="en-US" sz="2000" b="1" err="1">
              <a:solidFill>
                <a:srgbClr val="022A3D"/>
              </a:solidFill>
              <a:latin typeface="Open Sans 1 Bold"/>
              <a:ea typeface="Open Sans 1 Bold"/>
              <a:cs typeface="Open Sans 1 Bold"/>
            </a:endParaR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(</a:t>
            </a:r>
            <a:r>
              <a:rPr lang="en-US" sz="2000" b="1" err="1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Visualización</a:t>
            </a:r>
            <a:r>
              <a:rPr lang="en-US" sz="2000" b="1" dirty="0">
                <a:solidFill>
                  <a:srgbClr val="022A3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)</a:t>
            </a:r>
            <a:endParaRPr lang="en-US" sz="2000" b="1" dirty="0">
              <a:solidFill>
                <a:srgbClr val="022A3D"/>
              </a:solidFill>
              <a:latin typeface="Open Sans 1 Bold"/>
              <a:ea typeface="Open Sans 1 Bold"/>
              <a:cs typeface="Open Sans 1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879132" y="3138999"/>
            <a:ext cx="5271433" cy="2483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El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prototipo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cumple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el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objetivo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central: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transforma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números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abstractos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(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calorías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)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en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un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grafico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visual de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déficit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o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superávit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. Esto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ataca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directamente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la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problemática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inicial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(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falta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conciencia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),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entregando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al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usuario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una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imagen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clara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e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inmediata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como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sus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decisiones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de hoy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impactan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su</a:t>
            </a:r>
            <a:r>
              <a:rPr lang="en-US" dirty="0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 peso </a:t>
            </a:r>
            <a:r>
              <a:rPr lang="en-US" err="1">
                <a:solidFill>
                  <a:srgbClr val="022A3D"/>
                </a:solidFill>
                <a:latin typeface="Open Sans 1"/>
                <a:ea typeface="Open Sans 1"/>
                <a:cs typeface="Open Sans 1"/>
                <a:sym typeface="Open Sans 1"/>
              </a:rPr>
              <a:t>futuro</a:t>
            </a:r>
            <a:endParaRPr lang="en-US" err="1">
              <a:solidFill>
                <a:srgbClr val="022A3D"/>
              </a:solidFill>
              <a:latin typeface="Open Sans 1"/>
              <a:ea typeface="Open Sans 1"/>
              <a:cs typeface="Open Sans 1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838074" y="2339788"/>
            <a:ext cx="6831616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  <p:pic>
        <p:nvPicPr>
          <p:cNvPr id="7" name="Imagen 6" descr="Diagrama, Texto&#10;&#10;El contenido generado por IA puede ser incorrecto.">
            <a:extLst>
              <a:ext uri="{FF2B5EF4-FFF2-40B4-BE49-F238E27FC236}">
                <a16:creationId xmlns:a16="http://schemas.microsoft.com/office/drawing/2014/main" id="{A4385B2D-78DB-47D8-2F84-A868AFE9A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3" y="1"/>
            <a:ext cx="18323324" cy="102869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D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6CE05-5237-A08E-472E-979CA6B4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3BBCBFF-85F7-3F7C-E74F-5CC6FF93462C}"/>
              </a:ext>
            </a:extLst>
          </p:cNvPr>
          <p:cNvSpPr/>
          <p:nvPr/>
        </p:nvSpPr>
        <p:spPr>
          <a:xfrm>
            <a:off x="14872192" y="1028700"/>
            <a:ext cx="6831616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52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62118" y="1143000"/>
            <a:ext cx="7594003" cy="67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200" b="1" spc="1167">
                <a:solidFill>
                  <a:srgbClr val="1C1B1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BIBLIOGRAFÍA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33493" y="2400181"/>
            <a:ext cx="6393540" cy="4171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9776" lvl="1" indent="-229888" algn="l">
              <a:lnSpc>
                <a:spcPts val="2981"/>
              </a:lnSpc>
              <a:buFont typeface="Arial"/>
              <a:buChar char="•"/>
            </a:pPr>
            <a:r>
              <a:rPr lang="en-US" sz="2129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Elmasri, R., &amp; Navathe, S. B. (2016). Fundamentos de sistemas de bases de datos (7.ª ed.). Pearson.</a:t>
            </a:r>
          </a:p>
          <a:p>
            <a:pPr marL="459776" lvl="1" indent="-229888" algn="l">
              <a:lnSpc>
                <a:spcPts val="2981"/>
              </a:lnSpc>
              <a:buFont typeface="Arial"/>
              <a:buChar char="•"/>
            </a:pPr>
            <a:r>
              <a:rPr lang="en-US" sz="2129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FatSecret. (2024). FatSecret Platform API Documentation. Recuperado de </a:t>
            </a:r>
            <a:r>
              <a:rPr lang="en-US" sz="2129" u="sng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  <a:hlinkClick r:id="rId2" tooltip="https://platform.fatsecret.com"/>
              </a:rPr>
              <a:t>https://platform.fatsecret.com</a:t>
            </a:r>
          </a:p>
          <a:p>
            <a:pPr marL="459776" lvl="1" indent="-229888" algn="l">
              <a:lnSpc>
                <a:spcPts val="2981"/>
              </a:lnSpc>
              <a:buFont typeface="Arial"/>
              <a:buChar char="•"/>
            </a:pPr>
            <a:r>
              <a:rPr lang="en-US" sz="2129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Hall, K. D. (2010). Predicting metabolic adaptation, body weight change, and energy intake in humans. American Journal of Physiology-Endocrinology and Metabolism. </a:t>
            </a:r>
            <a:r>
              <a:rPr lang="en-US" sz="2129" u="sng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  <a:hlinkClick r:id="rId3" tooltip="https://www.google.com/search?q=https://doi.org/10.1152/ajpendo.00559.2009"/>
              </a:rPr>
              <a:t>https://doi.org/10.1152/ajpendo.00559.2009</a:t>
            </a:r>
          </a:p>
          <a:p>
            <a:pPr algn="l">
              <a:lnSpc>
                <a:spcPts val="2981"/>
              </a:lnSpc>
            </a:pPr>
            <a:endParaRPr lang="en-US" sz="2129" u="sng">
              <a:solidFill>
                <a:srgbClr val="242424"/>
              </a:solidFill>
              <a:latin typeface="TT Chocolates"/>
              <a:ea typeface="TT Chocolates"/>
              <a:cs typeface="TT Chocolates"/>
              <a:sym typeface="TT Chocolates"/>
              <a:hlinkClick r:id="rId3" tooltip="https://www.google.com/search?q=https://doi.org/10.1152/ajpendo.00559.2009"/>
            </a:endParaRPr>
          </a:p>
        </p:txBody>
      </p:sp>
      <p:sp>
        <p:nvSpPr>
          <p:cNvPr id="4" name="Freeform 4"/>
          <p:cNvSpPr/>
          <p:nvPr/>
        </p:nvSpPr>
        <p:spPr>
          <a:xfrm rot="-669909">
            <a:off x="12898526" y="5799201"/>
            <a:ext cx="9213358" cy="7504698"/>
          </a:xfrm>
          <a:custGeom>
            <a:avLst/>
            <a:gdLst/>
            <a:ahLst/>
            <a:cxnLst/>
            <a:rect l="l" t="t" r="r" b="b"/>
            <a:pathLst>
              <a:path w="9213358" h="7504698">
                <a:moveTo>
                  <a:pt x="0" y="0"/>
                </a:moveTo>
                <a:lnTo>
                  <a:pt x="9213358" y="0"/>
                </a:lnTo>
                <a:lnTo>
                  <a:pt x="9213358" y="7504699"/>
                </a:lnTo>
                <a:lnTo>
                  <a:pt x="0" y="75046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238826" y="1190625"/>
            <a:ext cx="6483182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122127" y="2400181"/>
            <a:ext cx="6393540" cy="566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9776" lvl="1" indent="-229888" algn="l">
              <a:lnSpc>
                <a:spcPts val="2981"/>
              </a:lnSpc>
              <a:buFont typeface="Arial"/>
              <a:buChar char="•"/>
            </a:pPr>
            <a:r>
              <a:rPr lang="en-US" sz="2129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Hill, J. O., Wyatt, H. R., &amp; Peters, J. C. (2012). Energy Balance and Obesity. Circulation, 126(1), 126–132. </a:t>
            </a:r>
            <a:r>
              <a:rPr lang="en-US" sz="2129" u="sng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  <a:hlinkClick r:id="rId5" tooltip="https://doi.org/10.1161/CIRCULATIONAHA.111.087213"/>
              </a:rPr>
              <a:t>https://doi.org/10.1161/CIRCULATIONAHA.111.087213</a:t>
            </a:r>
          </a:p>
          <a:p>
            <a:pPr marL="459776" lvl="1" indent="-229888" algn="l">
              <a:lnSpc>
                <a:spcPts val="2981"/>
              </a:lnSpc>
              <a:buFont typeface="Arial"/>
              <a:buChar char="•"/>
            </a:pPr>
            <a:r>
              <a:rPr lang="en-US" sz="2129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IBM. (2024, 5 de abril). ¿Qué es la integridad de los datos? Recuperado de </a:t>
            </a:r>
            <a:r>
              <a:rPr lang="en-US" sz="2129" u="sng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  <a:hlinkClick r:id="rId6" tooltip="https://www.ibm.com/es-es/think/topics/data-integrity"/>
              </a:rPr>
              <a:t>https://www.ibm.com/es-es/think/topics/data-integrity</a:t>
            </a:r>
          </a:p>
          <a:p>
            <a:pPr marL="459776" lvl="1" indent="-229888" algn="l">
              <a:lnSpc>
                <a:spcPts val="2981"/>
              </a:lnSpc>
              <a:buFont typeface="Arial"/>
              <a:buChar char="•"/>
            </a:pPr>
            <a:r>
              <a:rPr lang="en-US" sz="2129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Ministerio de Salud de Chile. (2017). Encuesta Nacional de Salud 2016–2017: Primeros resultados. Gobierno de Chile. </a:t>
            </a:r>
            <a:r>
              <a:rPr lang="en-US" sz="2129" u="sng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  <a:hlinkClick r:id="rId7" tooltip="https://www.minsal.cl/ens-2016-2017/"/>
              </a:rPr>
              <a:t>https://www.minsal.cl/ens-2016-2017/</a:t>
            </a:r>
          </a:p>
          <a:p>
            <a:pPr marL="459776" lvl="1" indent="-229888" algn="l">
              <a:lnSpc>
                <a:spcPts val="2981"/>
              </a:lnSpc>
              <a:buFont typeface="Arial"/>
              <a:buChar char="•"/>
            </a:pPr>
            <a:r>
              <a:rPr lang="en-US" sz="2129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</a:rPr>
              <a:t>World Obesity Federation. (2023). World Obesity Atlas 2023. Recuperado de </a:t>
            </a:r>
            <a:r>
              <a:rPr lang="en-US" sz="2129" u="sng">
                <a:solidFill>
                  <a:srgbClr val="242424"/>
                </a:solidFill>
                <a:latin typeface="TT Chocolates"/>
                <a:ea typeface="TT Chocolates"/>
                <a:cs typeface="TT Chocolates"/>
                <a:sym typeface="TT Chocolates"/>
                <a:hlinkClick r:id="rId8" tooltip="https://www.worldobesity.org"/>
              </a:rPr>
              <a:t>https://www.worldobesity.org/</a:t>
            </a:r>
          </a:p>
          <a:p>
            <a:pPr algn="l">
              <a:lnSpc>
                <a:spcPts val="2981"/>
              </a:lnSpc>
            </a:pPr>
            <a:endParaRPr lang="en-US" sz="2129" u="sng">
              <a:solidFill>
                <a:srgbClr val="242424"/>
              </a:solidFill>
              <a:latin typeface="TT Chocolates"/>
              <a:ea typeface="TT Chocolates"/>
              <a:cs typeface="TT Chocolates"/>
              <a:sym typeface="TT Chocolates"/>
              <a:hlinkClick r:id="rId8" tooltip="https://www.worldobesity.org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493448">
            <a:off x="12764455" y="-4493527"/>
            <a:ext cx="9213358" cy="7504698"/>
          </a:xfrm>
          <a:custGeom>
            <a:avLst/>
            <a:gdLst/>
            <a:ahLst/>
            <a:cxnLst/>
            <a:rect l="l" t="t" r="r" b="b"/>
            <a:pathLst>
              <a:path w="9213358" h="7504698">
                <a:moveTo>
                  <a:pt x="0" y="0"/>
                </a:moveTo>
                <a:lnTo>
                  <a:pt x="9213358" y="0"/>
                </a:lnTo>
                <a:lnTo>
                  <a:pt x="9213358" y="7504699"/>
                </a:lnTo>
                <a:lnTo>
                  <a:pt x="0" y="75046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693960" y="7073953"/>
            <a:ext cx="6483182" cy="0"/>
          </a:xfrm>
          <a:prstGeom prst="line">
            <a:avLst/>
          </a:prstGeom>
          <a:ln w="323850" cap="rnd">
            <a:solidFill>
              <a:srgbClr val="B48C5D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5715228" y="1298787"/>
            <a:ext cx="1830961" cy="183096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014915" y="756491"/>
            <a:ext cx="700314" cy="70031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485639" y="8394558"/>
            <a:ext cx="7394558" cy="645692"/>
            <a:chOff x="0" y="0"/>
            <a:chExt cx="3282592" cy="2866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82592" cy="286635"/>
            </a:xfrm>
            <a:custGeom>
              <a:avLst/>
              <a:gdLst/>
              <a:ahLst/>
              <a:cxnLst/>
              <a:rect l="l" t="t" r="r" b="b"/>
              <a:pathLst>
                <a:path w="3282592" h="286635">
                  <a:moveTo>
                    <a:pt x="0" y="0"/>
                  </a:moveTo>
                  <a:lnTo>
                    <a:pt x="3282592" y="0"/>
                  </a:lnTo>
                  <a:lnTo>
                    <a:pt x="3282592" y="286635"/>
                  </a:lnTo>
                  <a:lnTo>
                    <a:pt x="0" y="286635"/>
                  </a:lnTo>
                  <a:close/>
                </a:path>
              </a:pathLst>
            </a:custGeom>
            <a:solidFill>
              <a:srgbClr val="B48C5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282592" cy="334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14574" y="3601830"/>
            <a:ext cx="14160264" cy="133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4"/>
              </a:lnSpc>
            </a:pPr>
            <a:r>
              <a:rPr lang="en-US" sz="10233" b="1" spc="2711">
                <a:solidFill>
                  <a:srgbClr val="FFFFFF"/>
                </a:solidFill>
                <a:latin typeface="Open Sans 1 Medium"/>
                <a:ea typeface="Open Sans 1 Medium"/>
                <a:cs typeface="Open Sans 1 Medium"/>
                <a:sym typeface="Open Sans 1 Medium"/>
              </a:rPr>
              <a:t>MUCHAS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4574" y="5102566"/>
            <a:ext cx="15936584" cy="164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59"/>
              </a:lnSpc>
            </a:pPr>
            <a:r>
              <a:rPr lang="en-US" sz="12769" b="1" spc="5286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GRACIAS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72559" y="8617711"/>
            <a:ext cx="7020718" cy="25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0"/>
              </a:lnSpc>
            </a:pPr>
            <a:r>
              <a:rPr lang="en-US" sz="1958" b="1" spc="270">
                <a:solidFill>
                  <a:srgbClr val="FFFFFF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Más información pregúntenle al seba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</dc:title>
  <cp:revision>164</cp:revision>
  <dcterms:created xsi:type="dcterms:W3CDTF">2006-08-16T00:00:00Z</dcterms:created>
  <dcterms:modified xsi:type="dcterms:W3CDTF">2026-05-29T18:28:58Z</dcterms:modified>
  <dc:identifier>DAG50CmpRs0</dc:identifier>
</cp:coreProperties>
</file>